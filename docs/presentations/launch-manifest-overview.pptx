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3"/>
  </p:sldMasterIdLst>
  <p:notesMasterIdLst>
    <p:notesMasterId r:id="rId18"/>
  </p:notes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 panose="020B0604020202020204"/>
      </a:defRPr>
    </a:lvl1pPr>
    <a:lvl2pPr indent="228600" latinLnBrk="0">
      <a:defRPr sz="1400">
        <a:latin typeface="+mn-lt"/>
        <a:ea typeface="+mn-ea"/>
        <a:cs typeface="+mn-cs"/>
        <a:sym typeface="Arial" panose="020B0604020202020204"/>
      </a:defRPr>
    </a:lvl2pPr>
    <a:lvl3pPr indent="457200" latinLnBrk="0">
      <a:defRPr sz="1400">
        <a:latin typeface="+mn-lt"/>
        <a:ea typeface="+mn-ea"/>
        <a:cs typeface="+mn-cs"/>
        <a:sym typeface="Arial" panose="020B0604020202020204"/>
      </a:defRPr>
    </a:lvl3pPr>
    <a:lvl4pPr indent="685800" latinLnBrk="0">
      <a:defRPr sz="1400">
        <a:latin typeface="+mn-lt"/>
        <a:ea typeface="+mn-ea"/>
        <a:cs typeface="+mn-cs"/>
        <a:sym typeface="Arial" panose="020B0604020202020204"/>
      </a:defRPr>
    </a:lvl4pPr>
    <a:lvl5pPr indent="914400" latinLnBrk="0">
      <a:defRPr sz="1400">
        <a:latin typeface="+mn-lt"/>
        <a:ea typeface="+mn-ea"/>
        <a:cs typeface="+mn-cs"/>
        <a:sym typeface="Arial" panose="020B0604020202020204"/>
      </a:defRPr>
    </a:lvl5pPr>
    <a:lvl6pPr indent="1143000" latinLnBrk="0">
      <a:defRPr sz="1400">
        <a:latin typeface="+mn-lt"/>
        <a:ea typeface="+mn-ea"/>
        <a:cs typeface="+mn-cs"/>
        <a:sym typeface="Arial" panose="020B0604020202020204"/>
      </a:defRPr>
    </a:lvl6pPr>
    <a:lvl7pPr indent="1371600" latinLnBrk="0">
      <a:defRPr sz="1400">
        <a:latin typeface="+mn-lt"/>
        <a:ea typeface="+mn-ea"/>
        <a:cs typeface="+mn-cs"/>
        <a:sym typeface="Arial" panose="020B0604020202020204"/>
      </a:defRPr>
    </a:lvl7pPr>
    <a:lvl8pPr indent="1600200" latinLnBrk="0">
      <a:defRPr sz="1400">
        <a:latin typeface="+mn-lt"/>
        <a:ea typeface="+mn-ea"/>
        <a:cs typeface="+mn-cs"/>
        <a:sym typeface="Arial" panose="020B0604020202020204"/>
      </a:defRPr>
    </a:lvl8pPr>
    <a:lvl9pPr indent="1828800" latinLnBrk="0">
      <a:defRPr sz="14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3" Type="http://schemas.openxmlformats.org/officeDocument/2006/relationships/theme" Target="../theme/theme1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3" Type="http://schemas.openxmlformats.org/officeDocument/2006/relationships/theme" Target="../theme/theme2.xml"/><Relationship Id="rId42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2.xml"/><Relationship Id="rId3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Launch Manifest</a:t>
            </a:r>
            <a:endParaRPr sz="32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>
                <a:solidFill>
                  <a:srgbClr val="666666"/>
                </a:solidFill>
              </a:rPr>
              <a:t>Declaring and Auditing the ROS 2 Communication Graph
play_launch — Phase 31</a:t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Manifest in 30 Seconds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955279" cy="3200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version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1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nodes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talker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[chatter]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listener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[chatter]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topics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chatter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type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std_msgs/msg/String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[talker/chatter]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[listener/chatter]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exports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output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[talker/chatter]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400">
                <a:solidFill>
                  <a:srgbClr val="666666"/>
                </a:solidFill>
              </a:rPr>
              <a:t>One manifest per launch file. Topics wire endpoints. Names are relative.</a:t>
            </a:r>
            <a:endParaRPr sz="1400">
              <a:solidFill>
                <a:srgbClr val="666666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Manifest Structure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b="1"/>
              <a:t>nodes</a:t>
            </a:r>
            <a:r>
              <a:t>:        endpoint declarations (pre-remap names)</a:t>
            </a:r>
          </a:p>
          <a:p>
            <a:pPr>
              <a:buNone/>
            </a:pPr>
            <a:r>
              <a:rPr b="1"/>
              <a:t>topics</a:t>
            </a:r>
            <a:r>
              <a:t>:        wiring + type + QoS + channel contract</a:t>
            </a:r>
          </a:p>
          <a:p>
            <a:pPr>
              <a:buNone/>
            </a:pPr>
            <a:r>
              <a:rPr b="1"/>
              <a:t>includes</a:t>
            </a:r>
            <a:r>
              <a:t>:     child scopes (name = namespace, manifest path)</a:t>
            </a:r>
          </a:p>
          <a:p>
            <a:pPr>
              <a:buNone/>
            </a:pPr>
            <a:r>
              <a:rPr b="1"/>
              <a:t>imports</a:t>
            </a:r>
            <a:r>
              <a:t>:      subscriber dependencies (what we need from outside)</a:t>
            </a:r>
          </a:p>
          <a:p>
            <a:pPr>
              <a:buNone/>
            </a:pPr>
            <a:r>
              <a:rPr b="1"/>
              <a:t>exports</a:t>
            </a:r>
            <a:r>
              <a:t>:      publisher outputs (what we provide to parent)</a:t>
            </a:r>
          </a:p>
          <a:p>
            <a:pPr>
              <a:buNone/>
            </a:pPr>
            <a:r>
              <a:rPr b="1"/>
              <a:t>io</a:t>
            </a:r>
            <a:r>
              <a:t>:              scope-level timing contract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Wiring: Topics Connect Endpoints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754880" cy="27432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nodes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cropbox_filter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[output]</a:t>
            </a:r>
            <a:r>
              <a:rPr sz="1000">
                <a:solidFill>
                  <a:srgbClr val="6C7086"/>
                </a:solidFill>
                <a:latin typeface="Consolas" panose="020B0609020204030204"/>
              </a:rPr>
              <a:t>       # pre-remap name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topics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cropped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r>
              <a:rPr sz="1000">
                <a:solidFill>
                  <a:srgbClr val="6C7086"/>
                </a:solidFill>
                <a:latin typeface="Consolas" panose="020B0609020204030204"/>
              </a:rPr>
              <a:t>             # → &lt;ns&gt;/cropped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type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PointCloud2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[cropbox_filter/output]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[ground_filter/input]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contract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  rate_hz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10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0" y="1097280"/>
            <a:ext cx="3017520" cy="14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1300" b="1">
                <a:solidFill>
                  <a:srgbClr val="1A73E8"/>
                </a:solidFill>
              </a:rPr>
              <a:t>Endpoint names</a:t>
            </a:r>
            <a:r>
              <a:rPr sz="1300">
                <a:solidFill>
                  <a:srgbClr val="262626"/>
                </a:solidFill>
              </a:rPr>
              <a:t> = node's internal topic names (before &lt;remap&gt;)</a:t>
            </a:r>
            <a:endParaRPr sz="1300">
              <a:solidFill>
                <a:srgbClr val="262626"/>
              </a:solidFill>
            </a:endParaRP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1300" b="1">
                <a:solidFill>
                  <a:srgbClr val="1A73E8"/>
                </a:solidFill>
              </a:rPr>
              <a:t>Topic</a:t>
            </a:r>
            <a:r>
              <a:rPr sz="1300">
                <a:solidFill>
                  <a:srgbClr val="262626"/>
                </a:solidFill>
              </a:rPr>
              <a:t> gives the real name and wires pub ↔ sub</a:t>
            </a:r>
            <a:endParaRPr sz="1300">
              <a:solidFill>
                <a:srgbClr val="262626"/>
              </a:solidFill>
            </a:endParaRP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1300" b="1">
                <a:solidFill>
                  <a:srgbClr val="1A73E8"/>
                </a:solidFill>
              </a:rPr>
              <a:t>contract:</a:t>
            </a:r>
            <a:r>
              <a:rPr sz="1300">
                <a:solidFill>
                  <a:srgbClr val="262626"/>
                </a:solidFill>
              </a:rPr>
              <a:t> = channel-level quality bound (rate, deadline, drops)</a:t>
            </a:r>
            <a:endParaRPr sz="130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Composition: Includes and Scope Hierarchy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955279" cy="292608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includes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lidar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r>
              <a:rPr sz="1000">
                <a:solidFill>
                  <a:srgbClr val="6C7086"/>
                </a:solidFill>
                <a:latin typeface="Consolas" panose="020B0609020204030204"/>
              </a:rPr>
              <a:t>                        # name = ROS namespace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manifest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tier4_.../lidar_perception.launch.yaml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camera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manifest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tier4_.../camera_perception.launch.yaml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topics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lidar_objects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[lidar/output]</a:t>
            </a:r>
            <a:r>
              <a:rPr sz="1000">
                <a:solidFill>
                  <a:srgbClr val="6C7086"/>
                </a:solidFill>
                <a:latin typeface="Consolas" panose="020B0609020204030204"/>
              </a:rPr>
              <a:t>          # child's export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[fusion_node/lidar_in]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imports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input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[lidar/input, camera/input]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exports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output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[tracker/tracked]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400" b="1">
                <a:solidFill>
                  <a:srgbClr val="262626"/>
                </a:solidFill>
              </a:rPr>
              <a:t>Parent wires children explicitly via topics. No implicit accumulation.</a:t>
            </a:r>
            <a:endParaRPr sz="1400" b="1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I/O Patterns in Autoware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Pipe (1→1)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on_arrival — cropbox, centerpoint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Fusion (N→1)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all_ready + timestamp — concat_pointclouds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Source (0→N)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periodic — lidar_driver (10 Hz)</a:t>
            </a:r>
            <a:endParaRPr sz="140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Timer-driven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periodic + state inputs — tracker (10 Hz)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Feedback cycle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on_arrival + state — NDT ↔ EKF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All from the same primitives —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no enumerated pattern types.</a:t>
            </a:r>
            <a:endParaRPr sz="1600" b="1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Node I/O Contract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389120" cy="347472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C7086"/>
                </a:solidFill>
                <a:latin typeface="Consolas" panose="020B0609020204030204"/>
              </a:rPr>
              <a:t># Simple pipe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centerpoint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io</a:t>
            </a:r>
            <a:r>
              <a:rPr sz="1000">
                <a:solidFill>
                  <a:srgbClr val="CDD6F4"/>
                </a:solidFill>
                <a:latin typeface="Consolas" panose="020B0609020204030204"/>
              </a:rPr>
              <a:t>: { 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latency_ms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30 }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C7086"/>
                </a:solidFill>
                <a:latin typeface="Consolas" panose="020B0609020204030204"/>
              </a:rPr>
              <a:t># Fusion — all inputs synchronized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fusion_node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io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trigger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all_ready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correlation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timestamp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tolerance_ms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50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latency_ms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20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C7086"/>
                </a:solidFill>
                <a:latin typeface="Consolas" panose="020B0609020204030204"/>
              </a:rPr>
              <a:t># Timer-driven with state inputs</a:t>
            </a:r>
            <a:endParaRPr sz="1000">
              <a:solidFill>
                <a:srgbClr val="6C7086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tracker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io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state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[fused]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trigger</a:t>
            </a:r>
            <a:r>
              <a:rPr sz="1000">
                <a:solidFill>
                  <a:srgbClr val="CDD6F4"/>
                </a:solidFill>
                <a:latin typeface="Consolas" panose="020B0609020204030204"/>
              </a:rPr>
              <a:t>: { 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periodic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10 }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freshness_ms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200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3810" y="1097280"/>
            <a:ext cx="360299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73E8"/>
                </a:solidFill>
                <a:latin typeface="Consolas" panose="020B0609020204030204"/>
              </a:rPr>
              <a:t>io:</a:t>
            </a:r>
            <a:r>
              <a:rPr sz="1400">
                <a:solidFill>
                  <a:srgbClr val="262626"/>
                </a:solidFill>
              </a:rPr>
              <a:t> only adds annotations to </a:t>
            </a:r>
            <a:r>
              <a:rPr sz="1400" b="1">
                <a:solidFill>
                  <a:srgbClr val="1A73E8"/>
                </a:solidFill>
                <a:latin typeface="Consolas" panose="020B0609020204030204"/>
              </a:rPr>
              <a:t>sub:/pub:</a:t>
            </a:r>
            <a:endParaRPr sz="1400" b="1">
              <a:solidFill>
                <a:srgbClr val="1A73E8"/>
              </a:solidFill>
              <a:latin typeface="Consolas" panose="020B0609020204030204"/>
            </a:endParaRP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262626"/>
                </a:solidFill>
              </a:rPr>
              <a:t>No redundancy — timing and roles are separate from topology.</a:t>
            </a:r>
            <a:endParaRPr sz="140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Contract Primitives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Input roles (per sub: endpoint)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role: trigger (default) — fires computation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role: state — read-latest when triggered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consume: N — messages per firing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min_count: N — readiness precondition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Trigger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on_arrival — any trigger-input (default)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all_ready — barrier, all must arrive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periodic: N — timer at N Hz</a:t>
            </a:r>
            <a:endParaRPr sz="140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Correlation (2+ trigger inputs)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timestamp — match by header.stamp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latest — most recent of each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Timing bounds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latency_ms — trigger → output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freshness_ms — max input data age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62626"/>
                </a:solidFill>
              </a:rPr>
              <a:t>Drop tolerance</a:t>
            </a:r>
            <a:endParaRPr sz="1600" b="1">
              <a:solidFill>
                <a:srgbClr val="26262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max_consecutive_drops</a:t>
            </a:r>
            <a:endParaRPr sz="1400">
              <a:solidFill>
                <a:srgbClr val="666666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>
                <a:solidFill>
                  <a:srgbClr val="666666"/>
                </a:solidFill>
              </a:rPr>
              <a:t>  max_drop_ratio over window</a:t>
            </a:r>
            <a:endParaRPr sz="1400">
              <a:solidFill>
                <a:srgbClr val="666666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Topic Channel Contract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572000" cy="201168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topics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detected_objects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type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DetectedObjects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[centerpoint/objects]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[tracker/input]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contract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  rate_hz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10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  deadline_ms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150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  max_drop_ratio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0.05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7955279" cy="89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62626"/>
                </a:solidFill>
              </a:rPr>
              <a:t>Two separate concerns:</a:t>
            </a:r>
            <a:endParaRPr sz="1600" b="1">
              <a:solidFill>
                <a:srgbClr val="262626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1A73E8"/>
                </a:solidFill>
                <a:latin typeface="Consolas" panose="020B0609020204030204"/>
              </a:rPr>
              <a:t>Node io: </a:t>
            </a:r>
            <a:r>
              <a:rPr sz="1400">
                <a:solidFill>
                  <a:srgbClr val="262626"/>
                </a:solidFill>
              </a:rPr>
              <a:t>computation — how fast input → output</a:t>
            </a:r>
            <a:endParaRPr sz="1400">
              <a:solidFill>
                <a:srgbClr val="262626"/>
              </a:solidFill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1A73E8"/>
                </a:solidFill>
                <a:latin typeface="Consolas" panose="020B0609020204030204"/>
              </a:rPr>
              <a:t>Topic contract: </a:t>
            </a:r>
            <a:r>
              <a:rPr sz="1400">
                <a:solidFill>
                  <a:srgbClr val="262626"/>
                </a:solidFill>
              </a:rPr>
              <a:t>channel — what the link promises</a:t>
            </a:r>
            <a:endParaRPr sz="140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Full Pipeline: Top-Level Manifest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029200" cy="3200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includes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sensing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manifest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tier4_.../sensing.launch.yaml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perception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manifest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tier4_.../perception.launch.yaml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planning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manifest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tier4_.../planning.launch.yaml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topics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pointcloud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[sensing/pointcloud]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[perception/input]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tracked_objects</a:t>
            </a:r>
            <a:r>
              <a:rPr sz="1000">
                <a:solidFill>
                  <a:srgbClr val="89B4FA"/>
                </a:solidFill>
                <a:latin typeface="Consolas" panose="020B0609020204030204"/>
              </a:rPr>
              <a:t>:</a:t>
            </a:r>
            <a:endParaRPr sz="1000">
              <a:solidFill>
                <a:srgbClr val="89B4FA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pub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[perception/output]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89B4FA"/>
                </a:solidFill>
                <a:latin typeface="Consolas" panose="020B0609020204030204"/>
              </a:rPr>
              <a:t>    sub</a:t>
            </a:r>
            <a:r>
              <a:rPr sz="1000">
                <a:solidFill>
                  <a:srgbClr val="A6E3A1"/>
                </a:solidFill>
                <a:latin typeface="Consolas" panose="020B0609020204030204"/>
              </a:rPr>
              <a:t>: [planning/input]</a:t>
            </a:r>
            <a:endParaRPr sz="1000">
              <a:solidFill>
                <a:srgbClr val="A6E3A1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0" y="914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300" b="1">
                <a:solidFill>
                  <a:srgbClr val="262626"/>
                </a:solidFill>
              </a:rPr>
              <a:t>Scope budgets:</a:t>
            </a:r>
            <a:endParaRPr sz="1300" b="1">
              <a:solidFill>
                <a:srgbClr val="26262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  sensing: source, 10 Hz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  perception: 85 ms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    lidar: 50 ms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    camera: 30 ms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  planning: 100 ms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</a:p>
          <a:p>
            <a:pPr>
              <a:buNone/>
            </a:pPr>
            <a:r>
              <a:rPr sz="1300" b="1">
                <a:solidFill>
                  <a:srgbClr val="262626"/>
                </a:solidFill>
              </a:rPr>
              <a:t>Critical path:</a:t>
            </a:r>
            <a:endParaRPr sz="1300" b="1">
              <a:solidFill>
                <a:srgbClr val="262626"/>
              </a:solidFill>
            </a:endParaRPr>
          </a:p>
          <a:p>
            <a:pPr>
              <a:buNone/>
            </a:pPr>
            <a:r>
              <a:rPr sz="1300" b="0">
                <a:solidFill>
                  <a:srgbClr val="666666"/>
                </a:solidFill>
              </a:rPr>
              <a:t>max(50,30) + 20 + 100</a:t>
            </a:r>
            <a:endParaRPr sz="13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600" b="1">
                <a:solidFill>
                  <a:srgbClr val="EA4335"/>
                </a:solidFill>
              </a:rPr>
              <a:t>= 170 ms</a:t>
            </a:r>
            <a:endParaRPr sz="1600" b="1">
              <a:solidFill>
                <a:srgbClr val="EA4335"/>
              </a:solidFill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Working with Launch Files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Manifest loaded alongside &lt;include&gt; — parser resolves namespace</a:t>
            </a:r>
          </a:p>
          <a:p>
            <a:r>
              <a:t>Endpoint names match &lt;remap from="..."&gt; in launch XML</a:t>
            </a:r>
          </a:p>
          <a:p>
            <a:pPr lvl="1"/>
            <a:r>
              <a:t>Warn if remap is missing</a:t>
            </a:r>
          </a:p>
          <a:p>
            <a:r>
              <a:t>Same manifest reused across different namespace contexts</a:t>
            </a:r>
          </a:p>
          <a:p>
            <a:r>
              <a:t>Partial coverage: missing manifest = no auditing for that scope</a:t>
            </a:r>
          </a:p>
          <a:p>
            <a:r>
              <a:t>Full ROS 2 compatibility — manifests are sidecar files, not replacements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Contract Violation Detection via RCL Interception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pic>
        <p:nvPicPr>
          <p:cNvPr id="5" name="Picture 4" descr="rcl-intercep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916305"/>
            <a:ext cx="9853295" cy="43110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What the Monitor Checks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>
                <a:solidFill>
                  <a:srgbClr val="262626"/>
                </a:solidFill>
              </a:rPr>
              <a:t>Node io: checks</a:t>
            </a:r>
            <a:endParaRPr sz="1400" b="1">
              <a:solidFill>
                <a:srgbClr val="262626"/>
              </a:solidFill>
            </a:endParaRPr>
          </a:p>
          <a:p>
            <a:pPr>
              <a:buNone/>
            </a:pPr>
            <a:r>
              <a:rPr sz="1400" b="0">
                <a:solidFill>
                  <a:srgbClr val="666666"/>
                </a:solidFill>
              </a:rPr>
              <a:t>  latency_ms: pub_time - take_time ≤ bound</a:t>
            </a:r>
            <a:endParaRPr sz="14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400" b="0">
                <a:solidFill>
                  <a:srgbClr val="666666"/>
                </a:solidFill>
              </a:rPr>
              <a:t>  freshness_ms: pub_time - stamp ≤ bound</a:t>
            </a:r>
            <a:endParaRPr sz="1400" b="0">
              <a:solidFill>
                <a:srgbClr val="666666"/>
              </a:solidFill>
            </a:endParaRPr>
          </a:p>
          <a:p>
            <a:pPr>
              <a:buNone/>
            </a:pPr>
          </a:p>
          <a:p>
            <a:pPr>
              <a:buNone/>
            </a:pPr>
            <a:r>
              <a:rPr sz="1400" b="1">
                <a:solidFill>
                  <a:srgbClr val="262626"/>
                </a:solidFill>
              </a:rPr>
              <a:t>Topic contract: checks</a:t>
            </a:r>
            <a:endParaRPr sz="1400" b="1">
              <a:solidFill>
                <a:srgbClr val="262626"/>
              </a:solidFill>
            </a:endParaRPr>
          </a:p>
          <a:p>
            <a:pPr>
              <a:buNone/>
            </a:pPr>
            <a:r>
              <a:rPr sz="1400" b="0">
                <a:solidFill>
                  <a:srgbClr val="666666"/>
                </a:solidFill>
              </a:rPr>
              <a:t>  rate_hz: interval ≈ 1/rate</a:t>
            </a:r>
            <a:endParaRPr sz="14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400" b="0">
                <a:solidFill>
                  <a:srgbClr val="666666"/>
                </a:solidFill>
              </a:rPr>
              <a:t>  deadline_ms: interval ≤ deadline</a:t>
            </a:r>
            <a:endParaRPr sz="1400" b="0">
              <a:solidFill>
                <a:srgbClr val="666666"/>
              </a:solidFill>
            </a:endParaRPr>
          </a:p>
          <a:p>
            <a:pPr>
              <a:buNone/>
            </a:pPr>
            <a:r>
              <a:rPr sz="1400" b="0">
                <a:solidFill>
                  <a:srgbClr val="666666"/>
                </a:solidFill>
              </a:rPr>
              <a:t>  max_drop_ratio: drops/total ≤ ratio</a:t>
            </a:r>
            <a:endParaRPr sz="1400" b="0">
              <a:solidFill>
                <a:srgbClr val="666666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91440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Guarantee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Diagnosis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58585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</a:rPr>
                        <a:t>OK</a:t>
                      </a:r>
                      <a:endParaRPr sz="1200" b="1">
                        <a:solidFill>
                          <a:srgbClr val="34A853"/>
                        </a:solidFill>
                      </a:endParaRP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</a:rPr>
                        <a:t>OK</a:t>
                      </a:r>
                      <a:endParaRPr sz="1200" b="1">
                        <a:solidFill>
                          <a:srgbClr val="34A853"/>
                        </a:solidFill>
                      </a:endParaRP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</a:rPr>
                        <a:t>Nominal</a:t>
                      </a:r>
                      <a:endParaRPr sz="1200" b="1">
                        <a:solidFill>
                          <a:srgbClr val="34A853"/>
                        </a:solidFill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</a:rPr>
                        <a:t>OK</a:t>
                      </a:r>
                      <a:endParaRPr sz="1200" b="1">
                        <a:solidFill>
                          <a:srgbClr val="34A853"/>
                        </a:solidFill>
                      </a:endParaRP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</a:rPr>
                        <a:t>FAIL</a:t>
                      </a:r>
                      <a:endParaRPr sz="1200" b="1">
                        <a:solidFill>
                          <a:srgbClr val="EA4335"/>
                        </a:solidFill>
                      </a:endParaRPr>
                    </a:p>
                  </a:txBody>
                  <a:tcPr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</a:rPr>
                        <a:t>Node bug</a:t>
                      </a:r>
                      <a:endParaRPr sz="1200" b="1">
                        <a:solidFill>
                          <a:srgbClr val="EA4335"/>
                        </a:solidFill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</a:rPr>
                        <a:t>FAIL</a:t>
                      </a:r>
                      <a:endParaRPr sz="1200" b="1">
                        <a:solidFill>
                          <a:srgbClr val="EA4335"/>
                        </a:solidFill>
                      </a:endParaRPr>
                    </a:p>
                  </a:txBody>
                  <a:tcPr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</a:rPr>
                        <a:t>OK</a:t>
                      </a:r>
                      <a:endParaRPr sz="1200" b="1">
                        <a:solidFill>
                          <a:srgbClr val="34A853"/>
                        </a:solidFill>
                      </a:endParaRP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73E8"/>
                          </a:solidFill>
                        </a:rPr>
                        <a:t>Node robust</a:t>
                      </a:r>
                      <a:endParaRPr sz="1200" b="1">
                        <a:solidFill>
                          <a:srgbClr val="1A73E8"/>
                        </a:solidFill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</a:rPr>
                        <a:t>FAIL</a:t>
                      </a:r>
                      <a:endParaRPr sz="1200" b="1">
                        <a:solidFill>
                          <a:srgbClr val="EA4335"/>
                        </a:solidFill>
                      </a:endParaRPr>
                    </a:p>
                  </a:txBody>
                  <a:tcPr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</a:rPr>
                        <a:t>FAIL</a:t>
                      </a:r>
                      <a:endParaRPr sz="1200" b="1">
                        <a:solidFill>
                          <a:srgbClr val="EA4335"/>
                        </a:solidFill>
                      </a:endParaRPr>
                    </a:p>
                  </a:txBody>
                  <a:tcPr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BBC04"/>
                          </a:solidFill>
                        </a:rPr>
                        <a:t>Upstream problem</a:t>
                      </a:r>
                      <a:endParaRPr sz="1200" b="1">
                        <a:solidFill>
                          <a:srgbClr val="FBBC04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62626"/>
                </a:solidFill>
              </a:rPr>
              <a:t>Scope Budget Verification</a:t>
            </a:r>
            <a:endParaRPr sz="2400" b="1">
              <a:solidFill>
                <a:srgbClr val="26262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Critical path = longest path in DAG → O(V+E)</a:t>
            </a:r>
          </a:p>
          <a:p>
            <a:r>
              <a:t>scope.io.latency_ms ≥ longest_path(imports → exports)</a:t>
            </a:r>
          </a:p>
          <a:p>
            <a:r>
              <a:t>Composition rules:</a:t>
            </a:r>
          </a:p>
          <a:p>
            <a:pPr lvl="1"/>
            <a:r>
              <a:t>Series: sum of latencies</a:t>
            </a:r>
          </a:p>
          <a:p>
            <a:pPr lvl="1"/>
            <a:r>
              <a:t>Parallel: max of branches</a:t>
            </a:r>
          </a:p>
          <a:p>
            <a:pPr lvl="1"/>
            <a:r>
              <a:t>Periodic: period + jitter</a:t>
            </a:r>
          </a:p>
          <a:p>
            <a:r>
              <a:t>Checked statically at parse time — before any node starts</a:t>
            </a:r>
          </a:p>
          <a:p>
            <a:r>
              <a:t>Algorithm: topological sort + dynamic programming (petgraph)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4857</Words>
  <Application>WPS Presentation</Application>
  <PresentationFormat/>
  <Paragraphs>251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Montserrat</vt:lpstr>
      <vt:lpstr>Helvetica Neue</vt:lpstr>
      <vt:lpstr>Helvetica</vt:lpstr>
      <vt:lpstr>Nunito</vt:lpstr>
      <vt:lpstr>Consolas</vt:lpstr>
      <vt:lpstr>Microsoft YaHei</vt:lpstr>
      <vt:lpstr>黑体</vt:lpstr>
      <vt:lpstr>Arial Unicode MS</vt:lpstr>
      <vt:lpstr>Bangers</vt:lpstr>
      <vt:lpstr>思源黑体</vt:lpstr>
      <vt:lpstr>Adwaita Sans</vt:lpstr>
      <vt:lpstr>Poppins ExtraLight</vt:lpstr>
      <vt:lpstr>Simple Light</vt:lpstr>
      <vt:lpstr>1_Simple Light</vt:lpstr>
      <vt:lpstr>Launch Manifest</vt:lpstr>
      <vt:lpstr>Manifest in 30 Seconds</vt:lpstr>
      <vt:lpstr>Manifest Structure</vt:lpstr>
      <vt:lpstr>Wiring: Topics Connect Endpoints</vt:lpstr>
      <vt:lpstr>Composition: Includes and Scope Hierarchy</vt:lpstr>
      <vt:lpstr>I/O Patterns in Autoware</vt:lpstr>
      <vt:lpstr>Node I/O Contract</vt:lpstr>
      <vt:lpstr>Contract Primitives</vt:lpstr>
      <vt:lpstr>Topic Channel Contract</vt:lpstr>
      <vt:lpstr>Full Pipeline: Top-Level Manifest</vt:lpstr>
      <vt:lpstr>Working with Launch Files</vt:lpstr>
      <vt:lpstr>Contract Violation Detection via RCL Interception</vt:lpstr>
      <vt:lpstr>What the Monitor Checks</vt:lpstr>
      <vt:lpstr>Scope Budget Verification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LiDAR-to-Camera Calibration Workshop</dc:title>
  <dc:creator/>
  <cp:lastModifiedBy>aeon</cp:lastModifiedBy>
  <cp:revision>321</cp:revision>
  <dcterms:created xsi:type="dcterms:W3CDTF">2026-03-24T09:25:50Z</dcterms:created>
  <dcterms:modified xsi:type="dcterms:W3CDTF">2026-03-24T09:25:50Z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